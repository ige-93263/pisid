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X4tmTUql/16yijPLyADS2wSEA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P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4.png"/><Relationship Id="rId13" Type="http://schemas.openxmlformats.org/officeDocument/2006/relationships/image" Target="../media/image19.jp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1.jpg"/><Relationship Id="rId9" Type="http://schemas.openxmlformats.org/officeDocument/2006/relationships/image" Target="../media/image32.png"/><Relationship Id="rId15" Type="http://schemas.openxmlformats.org/officeDocument/2006/relationships/image" Target="../media/image26.jpg"/><Relationship Id="rId14" Type="http://schemas.openxmlformats.org/officeDocument/2006/relationships/image" Target="../media/image21.png"/><Relationship Id="rId5" Type="http://schemas.openxmlformats.org/officeDocument/2006/relationships/image" Target="../media/image2.jp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PT"/>
              <a:t>Sistemas de Informação Distribuídos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pt-PT"/>
              <a:t>Projecto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pt-PT"/>
              <a:t>Labirinto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251520" y="260648"/>
            <a:ext cx="84249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PT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Projeto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237278" y="1489087"/>
            <a:ext cx="8208912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P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Depois de terminado o projeto os alunos terão experimentado implementar uma solução que contempla: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P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Dados distribuídos em pelo menos dois computadores;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P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Dados armazenados em duas tecnologias diferentes: modelo relacional (Mysql) e não relacional (MongoDB);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P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Tolerância a falhas originadas por “crash” em bases de dados/pcs e em software;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P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Migração incremental de dados entre bases de dados;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P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Utilização de protocolo MQTT para receção de dados de sensores e transmissão de dados entre diferentes pcs;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P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Deteção de outliers e dados “sujos” provenientes de sensores;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P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Atuação em tempo real no sistema (granularidade de segundo);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P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Utilização das linguagens python, php e android studio;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PT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Lidar com indefinições de requisitos</a:t>
            </a:r>
            <a:r>
              <a:rPr lang="pt-P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517023" y="150194"/>
            <a:ext cx="84249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Labirinto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3"/>
          <p:cNvGrpSpPr/>
          <p:nvPr/>
        </p:nvGrpSpPr>
        <p:grpSpPr>
          <a:xfrm>
            <a:off x="2699792" y="3212976"/>
            <a:ext cx="3312368" cy="2796271"/>
            <a:chOff x="179512" y="1111223"/>
            <a:chExt cx="3312368" cy="2796271"/>
          </a:xfrm>
        </p:grpSpPr>
        <p:sp>
          <p:nvSpPr>
            <p:cNvPr id="102" name="Google Shape;102;p3"/>
            <p:cNvSpPr/>
            <p:nvPr/>
          </p:nvSpPr>
          <p:spPr>
            <a:xfrm>
              <a:off x="797000" y="1111223"/>
              <a:ext cx="792088" cy="502315"/>
            </a:xfrm>
            <a:prstGeom prst="ellipse">
              <a:avLst/>
            </a:prstGeom>
            <a:solidFill>
              <a:schemeClr val="accent1">
                <a:alpha val="30980"/>
              </a:scheme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Sala 1</a:t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2699792" y="1188136"/>
              <a:ext cx="792088" cy="502315"/>
            </a:xfrm>
            <a:prstGeom prst="ellipse">
              <a:avLst/>
            </a:prstGeom>
            <a:solidFill>
              <a:schemeClr val="accent1">
                <a:alpha val="30980"/>
              </a:scheme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Sala 2</a:t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2016251" y="2268256"/>
              <a:ext cx="792088" cy="502315"/>
            </a:xfrm>
            <a:prstGeom prst="ellipse">
              <a:avLst/>
            </a:prstGeom>
            <a:solidFill>
              <a:schemeClr val="accent1">
                <a:alpha val="30980"/>
              </a:scheme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Sala 8</a:t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2224712" y="3405179"/>
              <a:ext cx="792088" cy="502315"/>
            </a:xfrm>
            <a:prstGeom prst="ellipse">
              <a:avLst/>
            </a:prstGeom>
            <a:solidFill>
              <a:schemeClr val="accent1">
                <a:alpha val="30980"/>
              </a:scheme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Sala 5</a:t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79512" y="2675443"/>
              <a:ext cx="792088" cy="502315"/>
            </a:xfrm>
            <a:prstGeom prst="ellipse">
              <a:avLst/>
            </a:prstGeom>
            <a:solidFill>
              <a:schemeClr val="accent1">
                <a:alpha val="30980"/>
              </a:scheme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Sala 10</a:t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589088" y="1259150"/>
              <a:ext cx="1110704" cy="2511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 rot="2498248">
              <a:off x="1352352" y="1782059"/>
              <a:ext cx="1110704" cy="2511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 rot="-8309332">
              <a:off x="1027044" y="1899228"/>
              <a:ext cx="1180619" cy="2511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 rot="6437485">
              <a:off x="246643" y="1988272"/>
              <a:ext cx="1110704" cy="2511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 rot="1260163">
              <a:off x="932910" y="3085421"/>
              <a:ext cx="1446679" cy="2511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 rot="-5400000">
              <a:off x="2199253" y="2966156"/>
              <a:ext cx="627629" cy="2364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 rot="6133563">
              <a:off x="2059126" y="2439711"/>
              <a:ext cx="1763189" cy="2511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ma imagem com desenho, clipart, ilustração, Desenho animado&#10;&#10;Os conteúdos gerados por IA podem estar incorretos." id="114" name="Google Shape;114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6639" y="1303080"/>
              <a:ext cx="320824" cy="320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m desenho, clipart, ilustração, Desenho animado&#10;&#10;Os conteúdos gerados por IA podem estar incorretos." id="115" name="Google Shape;115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28676" y="1812154"/>
              <a:ext cx="320824" cy="320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m desenho, clipart, ilustração, Desenho animado&#10;&#10;Os conteúdos gerados por IA podem estar incorretos." id="116" name="Google Shape;116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54388" y="1319803"/>
              <a:ext cx="320824" cy="320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m desenho, clipart, ilustração, Desenho animado&#10;&#10;Os conteúdos gerados por IA podem estar incorretos." id="117" name="Google Shape;117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62722" y="1379121"/>
              <a:ext cx="320824" cy="320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m desenho, clipart, ilustração, Desenho animado&#10;&#10;Os conteúdos gerados por IA podem estar incorretos." id="118" name="Google Shape;11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29708" y="2939315"/>
              <a:ext cx="320824" cy="320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m desenho, clipart, ilustração, Desenho animado&#10;&#10;Os conteúdos gerados por IA podem estar incorretos." id="119" name="Google Shape;119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98370" y="2434453"/>
              <a:ext cx="320824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" name="Google Shape;120;p3"/>
          <p:cNvSpPr/>
          <p:nvPr/>
        </p:nvSpPr>
        <p:spPr>
          <a:xfrm>
            <a:off x="251520" y="1053266"/>
            <a:ext cx="8784976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Salas ligadas por corredores unidirecionais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(só se caminha num sentido)</a:t>
            </a: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uma sala podem chegar e sair vários corredores;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marsamis começam por ser largados numa sala e movem-se livremente (aleatoriamente?) pelos corredores;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corredores podem ser individualmente fechados e abertos (impedindo marsamis de circular);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marsamis cansam-se, passado um determinado tempo eles deixam de se deslocar;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marsamis imobilizam-se definitivamente caso  temperatura ou nível de ruído do labirinto atinja um certo valor;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Existem marsamis “odd” e “even”.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517023" y="150194"/>
            <a:ext cx="84249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 (“Simulador”)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" name="Google Shape;126;p4"/>
          <p:cNvGrpSpPr/>
          <p:nvPr/>
        </p:nvGrpSpPr>
        <p:grpSpPr>
          <a:xfrm>
            <a:off x="6166691" y="3549665"/>
            <a:ext cx="2596543" cy="2468121"/>
            <a:chOff x="179512" y="1111223"/>
            <a:chExt cx="3312368" cy="2796271"/>
          </a:xfrm>
        </p:grpSpPr>
        <p:sp>
          <p:nvSpPr>
            <p:cNvPr id="127" name="Google Shape;127;p4"/>
            <p:cNvSpPr/>
            <p:nvPr/>
          </p:nvSpPr>
          <p:spPr>
            <a:xfrm>
              <a:off x="797000" y="1111223"/>
              <a:ext cx="792088" cy="502315"/>
            </a:xfrm>
            <a:prstGeom prst="ellipse">
              <a:avLst/>
            </a:prstGeom>
            <a:solidFill>
              <a:schemeClr val="accent1">
                <a:alpha val="30980"/>
              </a:scheme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Sala 1</a:t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2699792" y="1188136"/>
              <a:ext cx="792088" cy="502315"/>
            </a:xfrm>
            <a:prstGeom prst="ellipse">
              <a:avLst/>
            </a:prstGeom>
            <a:solidFill>
              <a:schemeClr val="accent1">
                <a:alpha val="30980"/>
              </a:scheme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Sala 2</a:t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2016251" y="2268256"/>
              <a:ext cx="792088" cy="502315"/>
            </a:xfrm>
            <a:prstGeom prst="ellipse">
              <a:avLst/>
            </a:prstGeom>
            <a:solidFill>
              <a:schemeClr val="accent1">
                <a:alpha val="30980"/>
              </a:scheme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Sala 8</a:t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2224712" y="3405179"/>
              <a:ext cx="792088" cy="502315"/>
            </a:xfrm>
            <a:prstGeom prst="ellipse">
              <a:avLst/>
            </a:prstGeom>
            <a:solidFill>
              <a:schemeClr val="accent1">
                <a:alpha val="30980"/>
              </a:scheme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Sala 5</a:t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179512" y="2675443"/>
              <a:ext cx="792088" cy="502315"/>
            </a:xfrm>
            <a:prstGeom prst="ellipse">
              <a:avLst/>
            </a:prstGeom>
            <a:solidFill>
              <a:schemeClr val="accent1">
                <a:alpha val="30980"/>
              </a:scheme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Sala 10</a:t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1589088" y="1259150"/>
              <a:ext cx="1110704" cy="2511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 rot="2498248">
              <a:off x="1352352" y="1782059"/>
              <a:ext cx="1110704" cy="2511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 rot="-8309332">
              <a:off x="1027044" y="1899228"/>
              <a:ext cx="1180619" cy="2511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 rot="6437485">
              <a:off x="246643" y="1988272"/>
              <a:ext cx="1110704" cy="2511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 rot="1260163">
              <a:off x="932910" y="3085421"/>
              <a:ext cx="1446679" cy="2511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 rot="-5400000">
              <a:off x="2199253" y="2966156"/>
              <a:ext cx="627629" cy="2364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 rot="6133563">
              <a:off x="2059126" y="2439711"/>
              <a:ext cx="1763189" cy="2511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ma imagem com desenho, clipart, ilustração, Desenho animado&#10;&#10;Os conteúdos gerados por IA podem estar incorretos." id="139" name="Google Shape;13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6639" y="1303080"/>
              <a:ext cx="320824" cy="320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m desenho, clipart, ilustração, Desenho animado&#10;&#10;Os conteúdos gerados por IA podem estar incorretos." id="140" name="Google Shape;140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28676" y="1812154"/>
              <a:ext cx="320824" cy="320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m desenho, clipart, ilustração, Desenho animado&#10;&#10;Os conteúdos gerados por IA podem estar incorretos." id="141" name="Google Shape;141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54388" y="1319803"/>
              <a:ext cx="320824" cy="320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m desenho, clipart, ilustração, Desenho animado&#10;&#10;Os conteúdos gerados por IA podem estar incorretos." id="142" name="Google Shape;142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62722" y="1379121"/>
              <a:ext cx="320824" cy="320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m desenho, clipart, ilustração, Desenho animado&#10;&#10;Os conteúdos gerados por IA podem estar incorretos." id="143" name="Google Shape;143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29708" y="2939315"/>
              <a:ext cx="320824" cy="320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m desenho, clipart, ilustração, Desenho animado&#10;&#10;Os conteúdos gerados por IA podem estar incorretos." id="144" name="Google Shape;144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98370" y="2434453"/>
              <a:ext cx="320824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4"/>
          <p:cNvSpPr/>
          <p:nvPr/>
        </p:nvSpPr>
        <p:spPr>
          <a:xfrm>
            <a:off x="293030" y="904951"/>
            <a:ext cx="878497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“</a:t>
            </a:r>
            <a:r>
              <a:rPr lang="pt-P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simulador</a:t>
            </a: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inicia com a largada dos marsamis nas salas (distribuídos pelas salas)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“</a:t>
            </a:r>
            <a:r>
              <a:rPr lang="pt-P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simulador</a:t>
            </a: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termina quando uma das seguintes situações ocorre: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PT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Foi atingido o limite de temperatura ou ruído;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PT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Decorreu um determinado período de tempo (pré definido pelo servidor) sem que nenhum marsami se </a:t>
            </a:r>
            <a:r>
              <a:rPr lang="pt-P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mova </a:t>
            </a:r>
            <a:r>
              <a:rPr b="0" i="0" lang="pt-PT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(estão todos “cansados”, ver mais adiante status das mensagens “Cansado”).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79512" y="2229792"/>
            <a:ext cx="8784976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jogador (software) pretende maximizar o número de pontos, sendo que pode obter pontos de duas formas: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arenR"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terminar o </a:t>
            </a:r>
            <a:r>
              <a:rPr lang="pt-P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simulador, </a:t>
            </a: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determinar com exatidão quantos marsamis estão em cada sala;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arenR"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Conseguir, no decorrer d</a:t>
            </a:r>
            <a:r>
              <a:rPr lang="pt-P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simlação</a:t>
            </a: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em tempo real, identificar que, numa determinada sala num determinado instante, o número de marsamis “odd” e “even” são iguais.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ython - Download free icons" id="147" name="Google Shape;1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8675" y="4115366"/>
            <a:ext cx="1162465" cy="11624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s Team Icon PNG e Vetor, com Fundo Transparente Para Download Grátis  | Pngtree" id="148" name="Google Shape;14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784" y="3903402"/>
            <a:ext cx="1434320" cy="143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/>
          <p:nvPr/>
        </p:nvSpPr>
        <p:spPr>
          <a:xfrm>
            <a:off x="1538061" y="4706165"/>
            <a:ext cx="175378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Põe a “correr” o software (jogador)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55233" y="3722024"/>
            <a:ext cx="13089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 (Equipe)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2794284" y="3808492"/>
            <a:ext cx="13712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Jogador(Software)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4"/>
          <p:cNvCxnSpPr/>
          <p:nvPr/>
        </p:nvCxnSpPr>
        <p:spPr>
          <a:xfrm>
            <a:off x="1759104" y="4502097"/>
            <a:ext cx="103518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" name="Google Shape;153;p4"/>
          <p:cNvCxnSpPr/>
          <p:nvPr/>
        </p:nvCxnSpPr>
        <p:spPr>
          <a:xfrm flipH="1">
            <a:off x="4008537" y="4115193"/>
            <a:ext cx="2033574" cy="194734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" name="Google Shape;154;p4"/>
          <p:cNvCxnSpPr/>
          <p:nvPr/>
        </p:nvCxnSpPr>
        <p:spPr>
          <a:xfrm>
            <a:off x="4063341" y="4652299"/>
            <a:ext cx="1698969" cy="4799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4"/>
          <p:cNvSpPr/>
          <p:nvPr/>
        </p:nvSpPr>
        <p:spPr>
          <a:xfrm>
            <a:off x="4487286" y="3651816"/>
            <a:ext cx="202707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Recebe dados de sensores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(ruído, Temperatura e pesagens por corredores)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159219" y="4374341"/>
            <a:ext cx="263972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Abre e fecha corredores e ar condicionado</a:t>
            </a:r>
            <a:endParaRPr/>
          </a:p>
        </p:txBody>
      </p:sp>
      <p:cxnSp>
        <p:nvCxnSpPr>
          <p:cNvPr id="157" name="Google Shape;157;p4"/>
          <p:cNvCxnSpPr/>
          <p:nvPr/>
        </p:nvCxnSpPr>
        <p:spPr>
          <a:xfrm>
            <a:off x="3516026" y="5249054"/>
            <a:ext cx="11806" cy="643993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4"/>
          <p:cNvSpPr/>
          <p:nvPr/>
        </p:nvSpPr>
        <p:spPr>
          <a:xfrm>
            <a:off x="3505112" y="5606034"/>
            <a:ext cx="16144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 bases de dados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3907201" y="5091501"/>
            <a:ext cx="228764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 “odd” = “Even” (gatilho)</a:t>
            </a:r>
            <a:endParaRPr/>
          </a:p>
        </p:txBody>
      </p:sp>
      <p:cxnSp>
        <p:nvCxnSpPr>
          <p:cNvPr id="160" name="Google Shape;160;p4"/>
          <p:cNvCxnSpPr/>
          <p:nvPr/>
        </p:nvCxnSpPr>
        <p:spPr>
          <a:xfrm flipH="1" rot="10800000">
            <a:off x="4028646" y="5022368"/>
            <a:ext cx="1733664" cy="8543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Free Icon | Smartphone" id="161" name="Google Shape;16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98076" y="5666746"/>
            <a:ext cx="585495" cy="5854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4"/>
          <p:cNvCxnSpPr/>
          <p:nvPr/>
        </p:nvCxnSpPr>
        <p:spPr>
          <a:xfrm rot="10800000">
            <a:off x="1472985" y="5277831"/>
            <a:ext cx="814760" cy="518271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https://encrypted-tbn0.gstatic.com/images?q=tbn:ANd9GcRBY1D0nbu-zLYqNeeNI48c_paOksZJsMKQp2cYkmfNNcFCj5iY" id="163" name="Google Shape;16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27619" y="6002566"/>
            <a:ext cx="392850" cy="392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4"/>
          <p:cNvCxnSpPr/>
          <p:nvPr/>
        </p:nvCxnSpPr>
        <p:spPr>
          <a:xfrm rot="10800000">
            <a:off x="2794284" y="6042898"/>
            <a:ext cx="306449" cy="91335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" name="Google Shape;165;p4"/>
          <p:cNvSpPr/>
          <p:nvPr/>
        </p:nvSpPr>
        <p:spPr>
          <a:xfrm>
            <a:off x="1005453" y="5635230"/>
            <a:ext cx="102174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Monitoriza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158245" y="6520837"/>
            <a:ext cx="37379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jogador é identificado pelo ID da equipe (inteiro)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/>
          <p:nvPr/>
        </p:nvSpPr>
        <p:spPr>
          <a:xfrm>
            <a:off x="251520" y="260648"/>
            <a:ext cx="84249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Especificação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247727" y="1225689"/>
            <a:ext cx="8208912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 instalado um labirinto composto por salas unidas por corredores. No labirinto circulam marsamis. Existem sensores que detetam quando um marsami entra numa sala (vindo de um corredor) e sai de uma sala (indo para um corredor). Também existe um sensor de ruído que transmite o nível de ruído no labirinto no momento, e outro que transmite a temperatura. Para além de sensores que enviam informação, existem atuadores (atuam em função da informação que recebem) que permitem fechar e abrir os corredores das salas (impedindo os marsamis de circular) e ligar e desligar o ar condicionado.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Periodicamente são efetuadas “largadas” de marsamis. Cada marsami é colocado numa sala e, estes, por instinto natural, deslocam-se sempre entre salas até que o cansaço os faça parar (sobre o cansaço ver informação mais adiante) O objetivo é, no final de uma largada (quando eles estão todos quietos) cada jogador saber quantos ficaram em cada sala. Mas existem dois tipos de marsamis, “odd” e “even”. No final é necessário saber quantos “odd” e quantos “even” ficarem em cada sala.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jogador, ao detetar que num determinado momento, numa sala, o número de “odds” é igual ao número de “evens”, pode acionar um “gatilho”. Se este “gatilho” for acionado antes que o equilíbrio entre “odds” e “evens” de desfaça, ganha 1 ponto, caso contrário perde meio ponto. Inicialmente todos os jogadores têm 0 pontos. Cada gatilho só pode ser accionado até 3 vezes por sala.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jogador pode recorrer aos atuadores para fechar (ou abrir) um corredor ou, com apenas uma só acção fechar (ou abrir) todos os corredores em simultâneo. Note-se que se os corredores estiverem todos fechados os marsamis não se movem. Inicialmente os corredores estão todos abertos. Cada jogador pode ligar (diminui incrementalmente a temperatura da sala) ou desligar o ar condicionado do labirinto.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o nível de ruído e/ou temperatura exceder um certo limite, de forma a reduzir o ruído e/ou temperatura todas os corredores são automaticamente fechados e acaba a simulação. O jogador não pode voltar a abrir os corredores.  O ruído aumenta proporcionalmente ao número de movimentos de marsamis. Se, por exemplo, alguns corredores forem fechados (fazendo diminuir o número de movimentos de ruído), o nível de ruído reduz-se.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corredor une duas salas apenas. Vários corredores podem ir dar a uma mesma sala. O mecanismo que liga a sala ao corredor apenas permite que os marsamis circulem num sentido. Sempre que um marsami “entra” ou “sai” de uma sala é activado um sensor de passagem e não é possível dois marsamis saírem ou entrarem em conjunto (garante-se que uma ativação do sensor é para apenas um marsami).  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107504" y="844140"/>
            <a:ext cx="20882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Descrição Geral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/>
          <p:nvPr/>
        </p:nvSpPr>
        <p:spPr>
          <a:xfrm>
            <a:off x="251520" y="260648"/>
            <a:ext cx="84249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Especificação (cont)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00220" y="681955"/>
            <a:ext cx="8208912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início de cada largada os marsamis são distribuídos aleatoriamente por todas as salas. Posteriormente eles deslocam-se aleatoriamente pelos corredores que lhes estão acessíveis. Cada jogador tem o seu próprio labirinto, e no início a planta do labirinto é igual para todos os jogadores. Mas como os jogadores podem abrir e fechar corredores, as plantas vão divergindo de jogador para jogador. Sempre que um marsami atravessa um corredor a informação enviada pelo sensor está exemplificada nas seguintes duas mensagens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 marsami 40 ´passou através de um corredor que o fez sair da sala 3 e entrar na sala 5”.  O Player 10 colocado na mensagem serve para identificar o Jogador/Labirinto. O Status 1 não é gerado pelo sensor , é uma informação adicional colocada na mensagem para indicar que foi uma passagem “sem incidentes”.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a sala de origem é “0” significa que estamos perante a largada inicial do marsami, ou seja, ele foi colocado na sala 3 no início da largada. Se quer a sala de Origem e a de Destino têm o valor 0, isso significa que o marsami está “preso” numa sala (última sala onde entrou), não pode sair (ou porque não tem nenhum corredor por onde sair – Status = 0 – ou por cansaço – Status = 2).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Utilizadores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 um administrador da aplicação (não confundir com o administrador da base de dados) que cria e apaga utilizadores /equipes. Ele terá acesso a formulários próprios HTML/php que executarão procedimentos SQL. Estes formulários não são para implementar. As equipes (conjunto de utilizadores da mesma equipe) podem fazer a manutenção das simulações também através de formulários HTML/php. A manutenção consiste em criar e iniciar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simulações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e, para cada simulação, poder editar os parâmetros que achem relevantes criar na tabela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simulação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(ou em outras tabelas que decidam criar). Qualquer utilizador de uma equipe pode criar e iniciar uma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simulação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mas apenas quem criou a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simulação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pode alterar. Apenas um utilizador pode alterar os seus dados pessoais.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migrações das leituras dos sensores do MongoDB para o Mysql são feitas automaticamente e em tempo real mas, em caso de falha, o administrador da aplicação terá de ter uma forma de reinicializar o processo de migração  (por exemplo, chamar um procedimento SQL ou um programa Java/Python/php).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251520" y="5880664"/>
            <a:ext cx="82089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Telemóvel Android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equipe deverá ter a possibilidade de, através de um telemóvel, monitorizar através de um gráfico a evolução do número de marsamis por sala, receber eventuais alertas de perigo de excesso de ruído e/ou temperatura., e visualizar graficamente a evolução da temperatura e ruído.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539552" y="1673706"/>
            <a:ext cx="6768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{Player:10, Marsami:40, RoomOrigin:3, RoomDestiny: 5, Status:1}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634868" y="2657953"/>
            <a:ext cx="6768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{Player:5, Marsami:40, RoomOrigin:0, RoomDestiny: 3, Status:1}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7"/>
          <p:cNvGrpSpPr/>
          <p:nvPr/>
        </p:nvGrpSpPr>
        <p:grpSpPr>
          <a:xfrm>
            <a:off x="1163950" y="-573839"/>
            <a:ext cx="5757586" cy="4198072"/>
            <a:chOff x="539552" y="1196752"/>
            <a:chExt cx="7272808" cy="4896544"/>
          </a:xfrm>
        </p:grpSpPr>
        <p:pic>
          <p:nvPicPr>
            <p:cNvPr descr="Cloud Icon - Free Download, PNG and Vector" id="188" name="Google Shape;188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9552" y="1196752"/>
              <a:ext cx="7272808" cy="48965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9" name="Google Shape;189;p7"/>
            <p:cNvGrpSpPr/>
            <p:nvPr/>
          </p:nvGrpSpPr>
          <p:grpSpPr>
            <a:xfrm>
              <a:off x="1486885" y="3284984"/>
              <a:ext cx="1879371" cy="837360"/>
              <a:chOff x="228048" y="987344"/>
              <a:chExt cx="2197813" cy="1165002"/>
            </a:xfrm>
          </p:grpSpPr>
          <p:pic>
            <p:nvPicPr>
              <p:cNvPr descr="Resultado de imagem para movement sensor" id="190" name="Google Shape;190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42600" y="987344"/>
                <a:ext cx="589040" cy="3534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1" name="Google Shape;191;p7"/>
              <p:cNvSpPr/>
              <p:nvPr/>
            </p:nvSpPr>
            <p:spPr>
              <a:xfrm>
                <a:off x="228048" y="1340768"/>
                <a:ext cx="1460974" cy="449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Ruído</a:t>
                </a:r>
                <a:endParaRPr/>
              </a:p>
            </p:txBody>
          </p:sp>
          <p:pic>
            <p:nvPicPr>
              <p:cNvPr descr="Resultado de imagem para movement sensor" id="192" name="Google Shape;192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836821" y="1627206"/>
                <a:ext cx="589040" cy="5251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93" name="Google Shape;193;p7"/>
          <p:cNvSpPr/>
          <p:nvPr/>
        </p:nvSpPr>
        <p:spPr>
          <a:xfrm>
            <a:off x="-13323" y="21006"/>
            <a:ext cx="31838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77689" y="3891114"/>
            <a:ext cx="2337737" cy="1728192"/>
          </a:xfrm>
          <a:prstGeom prst="rect">
            <a:avLst/>
          </a:prstGeom>
          <a:solidFill>
            <a:schemeClr val="accent1">
              <a:alpha val="10980"/>
            </a:scheme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793851" y="3963122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</a:t>
            </a:r>
            <a:r>
              <a:rPr lang="pt-PT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pt-P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1337590" y="4013435"/>
            <a:ext cx="11681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Réplica Mongo</a:t>
            </a:r>
            <a:endParaRPr/>
          </a:p>
        </p:txBody>
      </p:sp>
      <p:grpSp>
        <p:nvGrpSpPr>
          <p:cNvPr id="197" name="Google Shape;197;p7"/>
          <p:cNvGrpSpPr/>
          <p:nvPr/>
        </p:nvGrpSpPr>
        <p:grpSpPr>
          <a:xfrm>
            <a:off x="1183478" y="4308835"/>
            <a:ext cx="1322273" cy="1174554"/>
            <a:chOff x="4572330" y="3890987"/>
            <a:chExt cx="1322273" cy="1174554"/>
          </a:xfrm>
        </p:grpSpPr>
        <p:pic>
          <p:nvPicPr>
            <p:cNvPr descr="https://encrypted-tbn0.gstatic.com/images?q=tbn:ANd9GcRBY1D0nbu-zLYqNeeNI48c_paOksZJsMKQp2cYkmfNNcFCj5iY" id="198" name="Google Shape;198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67432" y="3890987"/>
              <a:ext cx="555418" cy="5554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s://encrypted-tbn0.gstatic.com/images?q=tbn:ANd9GcRBY1D0nbu-zLYqNeeNI48c_paOksZJsMKQp2cYkmfNNcFCj5iY" id="199" name="Google Shape;199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72330" y="4504085"/>
              <a:ext cx="555418" cy="5554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s://encrypted-tbn0.gstatic.com/images?q=tbn:ANd9GcRBY1D0nbu-zLYqNeeNI48c_paOksZJsMKQp2cYkmfNNcFCj5iY" id="200" name="Google Shape;200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39185" y="4510123"/>
              <a:ext cx="555418" cy="5554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7"/>
          <p:cNvSpPr/>
          <p:nvPr/>
        </p:nvSpPr>
        <p:spPr>
          <a:xfrm>
            <a:off x="4437640" y="3927118"/>
            <a:ext cx="976951" cy="1728192"/>
          </a:xfrm>
          <a:prstGeom prst="rect">
            <a:avLst/>
          </a:prstGeom>
          <a:solidFill>
            <a:schemeClr val="accent1">
              <a:alpha val="10980"/>
            </a:scheme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4453802" y="3999126"/>
            <a:ext cx="5437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PC2</a:t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4428896" y="4270382"/>
            <a:ext cx="15979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/>
          </a:p>
        </p:txBody>
      </p:sp>
      <p:pic>
        <p:nvPicPr>
          <p:cNvPr descr="https://encrypted-tbn0.gstatic.com/images?q=tbn:ANd9GcRBY1D0nbu-zLYqNeeNI48c_paOksZJsMKQp2cYkmfNNcFCj5iY" id="204" name="Google Shape;20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9092" y="4663851"/>
            <a:ext cx="555418" cy="55541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 rot="2257715">
            <a:off x="2041284" y="3343622"/>
            <a:ext cx="515853" cy="4320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encrypted-tbn0.gstatic.com/images?q=tbn:ANd9GcRBY1D0nbu-zLYqNeeNI48c_paOksZJsMKQp2cYkmfNNcFCj5iY" id="206" name="Google Shape;20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6156" y="1862169"/>
            <a:ext cx="555418" cy="55541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/>
          <p:nvPr/>
        </p:nvSpPr>
        <p:spPr>
          <a:xfrm>
            <a:off x="5209817" y="2128077"/>
            <a:ext cx="15979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/>
          </a:p>
        </p:txBody>
      </p:sp>
      <p:pic>
        <p:nvPicPr>
          <p:cNvPr id="208" name="Google Shape;20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9057" y="5539921"/>
            <a:ext cx="670905" cy="83192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 rot="-2999737">
            <a:off x="3240688" y="4873618"/>
            <a:ext cx="449340" cy="54596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 rot="-7492054">
            <a:off x="3897298" y="4847873"/>
            <a:ext cx="449340" cy="54596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ee Icon | Smartphone" id="211" name="Google Shape;21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51302" y="5061801"/>
            <a:ext cx="1115009" cy="11150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 rot="-2371604">
            <a:off x="5280151" y="5306473"/>
            <a:ext cx="183339" cy="45958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AE5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6532519" y="5799266"/>
            <a:ext cx="7780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Gráficos</a:t>
            </a:r>
            <a:endParaRPr/>
          </a:p>
        </p:txBody>
      </p:sp>
      <p:pic>
        <p:nvPicPr>
          <p:cNvPr descr="Cells, column, data, row, spreadsheet, table icon - Download on Iconfinder" id="214" name="Google Shape;21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42638" y="5470244"/>
            <a:ext cx="695167" cy="69516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 txBox="1"/>
          <p:nvPr/>
        </p:nvSpPr>
        <p:spPr>
          <a:xfrm>
            <a:off x="5528319" y="6094381"/>
            <a:ext cx="15180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Tabelas 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Movimentos e outras</a:t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 rot="-5400000">
            <a:off x="6785687" y="5518525"/>
            <a:ext cx="183339" cy="45958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AE5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ser icon with laptop computer male person Vector Image" id="217" name="Google Shape;21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59605" y="4139990"/>
            <a:ext cx="624825" cy="674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, html, document, form icon - Download on Iconfinder" id="218" name="Google Shape;218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41778" y="4066005"/>
            <a:ext cx="583122" cy="58312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/>
          <p:nvPr/>
        </p:nvSpPr>
        <p:spPr>
          <a:xfrm>
            <a:off x="6685980" y="3724051"/>
            <a:ext cx="6853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Equipe</a:t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3036584" y="1093958"/>
            <a:ext cx="9646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Movimentomarsamis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65579" y="2792438"/>
            <a:ext cx="470532" cy="58346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/>
          <p:cNvSpPr/>
          <p:nvPr/>
        </p:nvSpPr>
        <p:spPr>
          <a:xfrm rot="2257715">
            <a:off x="2813753" y="1998424"/>
            <a:ext cx="515853" cy="4320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r chart, business graph, business growth, graph icon - Free download" id="223" name="Google Shape;223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992981" y="6182977"/>
            <a:ext cx="486309" cy="4863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 Java, original, a marca, logo em Devicon" id="224" name="Google Shape;224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26858" y="3352010"/>
            <a:ext cx="437030" cy="43703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7"/>
          <p:cNvSpPr/>
          <p:nvPr/>
        </p:nvSpPr>
        <p:spPr>
          <a:xfrm>
            <a:off x="6314787" y="4286174"/>
            <a:ext cx="844818" cy="167263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 rot="-1042515">
            <a:off x="5562492" y="4837112"/>
            <a:ext cx="1407425" cy="201937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ser icon with laptop computer male person Vector Image" id="227" name="Google Shape;22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59970" y="3111885"/>
            <a:ext cx="511154" cy="55138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7"/>
          <p:cNvSpPr txBox="1"/>
          <p:nvPr/>
        </p:nvSpPr>
        <p:spPr>
          <a:xfrm>
            <a:off x="6479730" y="3234280"/>
            <a:ext cx="12129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 rot="-1595016">
            <a:off x="5481382" y="3712897"/>
            <a:ext cx="568357" cy="179994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478044" y="4254070"/>
            <a:ext cx="318715" cy="179994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7880948" y="3730850"/>
            <a:ext cx="106580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Atuadores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gatilhos</a:t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 rot="8220460">
            <a:off x="7563334" y="2394871"/>
            <a:ext cx="258713" cy="12823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ython Logo" id="233" name="Google Shape;233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625473" y="3429734"/>
            <a:ext cx="341026" cy="34102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7"/>
          <p:cNvSpPr txBox="1"/>
          <p:nvPr/>
        </p:nvSpPr>
        <p:spPr>
          <a:xfrm>
            <a:off x="2914994" y="3453313"/>
            <a:ext cx="3738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endParaRPr/>
          </a:p>
        </p:txBody>
      </p:sp>
      <p:pic>
        <p:nvPicPr>
          <p:cNvPr descr="ícone Java, original, a marca, logo em Devicon" id="235" name="Google Shape;235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15590" y="4299144"/>
            <a:ext cx="437030" cy="437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ython Logo" id="236" name="Google Shape;236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314205" y="4376868"/>
            <a:ext cx="341026" cy="34102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 txBox="1"/>
          <p:nvPr/>
        </p:nvSpPr>
        <p:spPr>
          <a:xfrm>
            <a:off x="3603726" y="4400447"/>
            <a:ext cx="3738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endParaRPr/>
          </a:p>
        </p:txBody>
      </p:sp>
      <p:pic>
        <p:nvPicPr>
          <p:cNvPr descr="ícone Java, original, a marca, logo em Devicon" id="238" name="Google Shape;238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23387" y="2815835"/>
            <a:ext cx="437030" cy="437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ython Logo" id="239" name="Google Shape;239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22002" y="2893559"/>
            <a:ext cx="341026" cy="34102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7"/>
          <p:cNvSpPr txBox="1"/>
          <p:nvPr/>
        </p:nvSpPr>
        <p:spPr>
          <a:xfrm>
            <a:off x="4211523" y="2917138"/>
            <a:ext cx="3738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endParaRPr/>
          </a:p>
        </p:txBody>
      </p:sp>
      <p:pic>
        <p:nvPicPr>
          <p:cNvPr descr="ícone Java, original, a marca, logo em Devicon" id="241" name="Google Shape;241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85815" y="2430984"/>
            <a:ext cx="437030" cy="437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ython Logo" id="242" name="Google Shape;242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784430" y="2508708"/>
            <a:ext cx="341026" cy="34102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 txBox="1"/>
          <p:nvPr/>
        </p:nvSpPr>
        <p:spPr>
          <a:xfrm>
            <a:off x="8073951" y="2532287"/>
            <a:ext cx="3738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endParaRPr/>
          </a:p>
        </p:txBody>
      </p:sp>
      <p:pic>
        <p:nvPicPr>
          <p:cNvPr descr="PHP: Download Logos" id="244" name="Google Shape;244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04368" y="5263971"/>
            <a:ext cx="611494" cy="33518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7"/>
          <p:cNvSpPr/>
          <p:nvPr/>
        </p:nvSpPr>
        <p:spPr>
          <a:xfrm>
            <a:off x="8302591" y="2937718"/>
            <a:ext cx="473101" cy="714749"/>
          </a:xfrm>
          <a:prstGeom prst="rect">
            <a:avLst/>
          </a:prstGeom>
          <a:solidFill>
            <a:schemeClr val="accent1">
              <a:alpha val="10980"/>
            </a:scheme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8265882" y="2980127"/>
            <a:ext cx="6520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PC1/2</a:t>
            </a:r>
            <a:endParaRPr/>
          </a:p>
        </p:txBody>
      </p:sp>
      <p:pic>
        <p:nvPicPr>
          <p:cNvPr descr="https://encrypted-tbn0.gstatic.com/images?q=tbn:ANd9GcRBY1D0nbu-zLYqNeeNI48c_paOksZJsMKQp2cYkmfNNcFCj5iY" id="247" name="Google Shape;247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49373" y="3264487"/>
            <a:ext cx="319631" cy="31963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7"/>
          <p:cNvSpPr txBox="1"/>
          <p:nvPr/>
        </p:nvSpPr>
        <p:spPr>
          <a:xfrm>
            <a:off x="7270544" y="1916447"/>
            <a:ext cx="106580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Atuadores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gatilhos</a:t>
            </a:r>
            <a:endParaRPr/>
          </a:p>
        </p:txBody>
      </p:sp>
      <p:pic>
        <p:nvPicPr>
          <p:cNvPr id="249" name="Google Shape;24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3738" y="1024303"/>
            <a:ext cx="670905" cy="831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movement sensor" id="250" name="Google Shape;2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2867" y="1831659"/>
            <a:ext cx="398754" cy="21779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/>
          <p:nvPr/>
        </p:nvSpPr>
        <p:spPr>
          <a:xfrm>
            <a:off x="1714538" y="2049451"/>
            <a:ext cx="989015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temperatura</a:t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 rot="-5400000">
            <a:off x="401767" y="6277949"/>
            <a:ext cx="515853" cy="4320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977040" y="6272242"/>
            <a:ext cx="156036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Jogador (Software)</a:t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 rot="3761271">
            <a:off x="4313222" y="2594094"/>
            <a:ext cx="330367" cy="18234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 rot="1073312">
            <a:off x="5128184" y="2434831"/>
            <a:ext cx="330367" cy="13676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/>
          <p:nvPr/>
        </p:nvSpPr>
        <p:spPr>
          <a:xfrm>
            <a:off x="251520" y="260648"/>
            <a:ext cx="84249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Labirinto Notas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251520" y="1412776"/>
            <a:ext cx="8208912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Formulários HTML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formulários para o administrador não são para serem implementados.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os utilizadores da equipe apenas é necessário: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Fazer login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Criar (ou selecionar um de uma lista de simulações seus para alterar) uma simulação (ou configuração de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simulação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(tabela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simulação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outras criadas pelo grupo) e, para essa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simulação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editar os valores associados. Quando está a alterar não pode alterar valores de chaves estrangeiras e primárias. Não é suposto editar uma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simulação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ele está a decorrer. Todo os outros acessos são feitos diretamente na base de dados (ou diretamente ou SPs, decisão do grupo excepto se SPs obrigatórios).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Botão “Iniciar” para iniciar uma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simulação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(por exemplo, php que  chama um executável python ou batch file no computador local.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251520" y="4221088"/>
            <a:ext cx="843462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Início e Fim de Simulação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simulação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começa quando o grupo o iniciar (por um ou vários programas python ou html). Termina automaticamente quando todos os corredores têm o status “2” / cansaço (note-se que quando os corredores se fecham porque foi atingido o limite de temperatura ou ruído, os marsamis ficam imóveis até se “cansarem”).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dados dos sensores de ruído e temperatura apenas necessitam ser armazenados enquanto decorre a experiência.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telemóvel aparece um gráfico que mostra para cada sala quantos marsamis lá estão (odd e even), gráfico do ruído, gráfico da temperatura.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260439" y="3339192"/>
            <a:ext cx="82089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Diversos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Apenas os utilizadores da equipe podem editar na base de dados a informação (campos) das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simulações 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criaram, quer diretamente na BD quer através de SPs (chamados pelo php ou chamados diretamente na bd).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/>
          <p:nvPr/>
        </p:nvSpPr>
        <p:spPr>
          <a:xfrm>
            <a:off x="251520" y="147162"/>
            <a:ext cx="84249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Bases de Dados Local (PC2)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572000" y="4075868"/>
            <a:ext cx="435245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 ser alterada pelo grupo, com mais tabelas, novos campos nas tabelas existentes, nomeadamente para guardar mais informação.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tabelas a amarelo são lidas pelo android, o que for alterado tem de ser alterado nos scripts/android. A tabela Ocupações Labirinto indica no momento quantos marsamis estão em cada sala. Na tabela mensagens todos os campos são opcionais.</a:t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4932040" y="1783848"/>
            <a:ext cx="3192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 válidos 1  ()temperatura) e 2 (Ruído)</a:t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5220072" y="2585572"/>
            <a:ext cx="319303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Hora em que foi feito o insert, não necessariamente igual à hora em que a medição que gerou a mensagem foi registada.</a:t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210301" y="2184710"/>
            <a:ext cx="319303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 de temperatura ou som enviado pelo sensor</a:t>
            </a:r>
            <a:endParaRPr/>
          </a:p>
        </p:txBody>
      </p:sp>
      <p:pic>
        <p:nvPicPr>
          <p:cNvPr id="274" name="Google Shape;2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50" y="861358"/>
            <a:ext cx="3884200" cy="5156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9"/>
          <p:cNvCxnSpPr/>
          <p:nvPr/>
        </p:nvCxnSpPr>
        <p:spPr>
          <a:xfrm flipH="1" rot="10800000">
            <a:off x="3668168" y="2276872"/>
            <a:ext cx="1467682" cy="1247429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" name="Google Shape;276;p9"/>
          <p:cNvCxnSpPr/>
          <p:nvPr/>
        </p:nvCxnSpPr>
        <p:spPr>
          <a:xfrm flipH="1" rot="10800000">
            <a:off x="3236120" y="1926046"/>
            <a:ext cx="1653000" cy="14235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" name="Google Shape;277;p9"/>
          <p:cNvCxnSpPr/>
          <p:nvPr/>
        </p:nvCxnSpPr>
        <p:spPr>
          <a:xfrm flipH="1" rot="10800000">
            <a:off x="3792125" y="2776175"/>
            <a:ext cx="1343725" cy="140006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251520" y="147162"/>
            <a:ext cx="84249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Bases de Dados Mysql Nuvem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2627774" y="5049025"/>
            <a:ext cx="404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valores não são alterados a meio de uma simulação.</a:t>
            </a:r>
            <a:r>
              <a:rPr b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979712" y="793493"/>
            <a:ext cx="56166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Dados sempre online, pronta a ser consultada (apenas read only)</a:t>
            </a:r>
            <a:endParaRPr/>
          </a:p>
        </p:txBody>
      </p:sp>
      <p:pic>
        <p:nvPicPr>
          <p:cNvPr id="285" name="Google Shape;2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1556792"/>
            <a:ext cx="6849431" cy="307700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0"/>
          <p:cNvSpPr txBox="1"/>
          <p:nvPr/>
        </p:nvSpPr>
        <p:spPr>
          <a:xfrm>
            <a:off x="2810695" y="5589240"/>
            <a:ext cx="35226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maze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Host: 194.210.86 10   Username/Senha: aluno/aluno </a:t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2804912" y="6235571"/>
            <a:ext cx="43716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 --user=aluno --password=aluno --host 194.210.86.10  maze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/>
          <p:nvPr/>
        </p:nvSpPr>
        <p:spPr>
          <a:xfrm>
            <a:off x="257359" y="98049"/>
            <a:ext cx="84249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Interagir Labirinto (Servidor)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179512" y="1078441"/>
            <a:ext cx="4572000" cy="2354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Sensores de ruído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mqtt_topic=pisid_mazesound_</a:t>
            </a:r>
            <a:r>
              <a:rPr i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(em que n é o numero do jogador)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{Player:11, Hour: "2024-07-04 16:29:21.281898", Sound: 19.0}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Sensores de temperatura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mqtt_topic=pisid_mazetemp_</a:t>
            </a:r>
            <a:r>
              <a:rPr i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(em que n é o numero do jogador)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{Player:11, Hour: "2024-07-04 16:29:21.281898", Temperature: 19.0}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Sensores de movimento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mqtt_topic=pisid_mazemov_</a:t>
            </a:r>
            <a:r>
              <a:rPr i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(em que n é o numero do jogador)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{Player:1, Marsami:47, RoomOrigin:4, RoomDestiny: 5, Status:1}</a:t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154410" y="735850"/>
            <a:ext cx="34814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Sensores (receber mensagens)</a:t>
            </a:r>
            <a:endParaRPr/>
          </a:p>
        </p:txBody>
      </p:sp>
      <p:sp>
        <p:nvSpPr>
          <p:cNvPr id="296" name="Google Shape;296;p11"/>
          <p:cNvSpPr txBox="1"/>
          <p:nvPr/>
        </p:nvSpPr>
        <p:spPr>
          <a:xfrm>
            <a:off x="179512" y="4653136"/>
            <a:ext cx="388259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Mqtt_topic="pisid_mazeact"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{Type: Score, Player:1, Room: 2}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{Type: OpenDoor, Player:1, RoomOrigin: 3, RoomDestiny: 2}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{Type: CloseDoor, Player:1, RoomOrigin: 3, RoomDestiny: 2}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{Type: CloseAllDoor, Player:1}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{Type: OpenAllDoor, Player:1}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-449566" y="4420319"/>
            <a:ext cx="232935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Atuadores</a:t>
            </a:r>
            <a:endParaRPr/>
          </a:p>
        </p:txBody>
      </p:sp>
      <p:sp>
        <p:nvSpPr>
          <p:cNvPr id="298" name="Google Shape;298;p11"/>
          <p:cNvSpPr txBox="1"/>
          <p:nvPr/>
        </p:nvSpPr>
        <p:spPr>
          <a:xfrm>
            <a:off x="4572000" y="959621"/>
            <a:ext cx="4417590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C:&gt;mazerun.exe </a:t>
            </a:r>
            <a:r>
              <a:rPr i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numero_grupo</a:t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Existem parâmetros opcionais: '—flagMessage –delay –broker –portbroker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delay é im inteiro e repreenta o número de sehundos entre cada movimento dos marsamis (número elevado significa que os marsamis movem-se lentamente)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flagMessage – permite seleccionar as mensagsns que são enviadas para a consola: 1 mostra tudo; 2 apenas movimentos; 3 apenas Som; 4 apenas atuadores; 5 apenas temperatura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o servidor mqtt estiver lento podem usar outro, passando-o como argumento junto com o porto. Por exemplo: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C:&gt;</a:t>
            </a: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mazerun.exe 30 –broker </a:t>
            </a:r>
            <a:r>
              <a:rPr i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broker.hivemq.com –portbroker 1883</a:t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4130482" y="697978"/>
            <a:ext cx="39604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Iniciar Simulação/Labirinto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4388240" y="4584055"/>
            <a:ext cx="232935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MQTT Brokers</a:t>
            </a:r>
            <a:endParaRPr/>
          </a:p>
        </p:txBody>
      </p:sp>
      <p:sp>
        <p:nvSpPr>
          <p:cNvPr id="301" name="Google Shape;301;p11"/>
          <p:cNvSpPr txBox="1"/>
          <p:nvPr/>
        </p:nvSpPr>
        <p:spPr>
          <a:xfrm>
            <a:off x="4582228" y="5085184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Escolher um que esteja oniine e rápido, exemplos: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cloud_server=tcp://broker.mqtt-dashboard.com:1883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cloud_server=tcp:// </a:t>
            </a:r>
            <a:r>
              <a:rPr i="1"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broker.hivemq.com 1883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"/>
          <p:cNvSpPr/>
          <p:nvPr/>
        </p:nvSpPr>
        <p:spPr>
          <a:xfrm>
            <a:off x="257359" y="98049"/>
            <a:ext cx="84249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Monitorizar Labirinto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179512" y="1078441"/>
            <a:ext cx="4572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C:&gt; monitmaze.exe n</a:t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154410" y="735850"/>
            <a:ext cx="34814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Movimentos Marsamis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130482" y="697978"/>
            <a:ext cx="39604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game&#10;&#10;AI-generated content may be incorrect." id="311" name="Google Shape;3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22" y="1470020"/>
            <a:ext cx="4767597" cy="483510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2"/>
          <p:cNvSpPr txBox="1"/>
          <p:nvPr/>
        </p:nvSpPr>
        <p:spPr>
          <a:xfrm>
            <a:off x="5250398" y="1034286"/>
            <a:ext cx="24179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C:&gt; monittemp.exe n</a:t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4211960" y="3738590"/>
            <a:ext cx="39604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5508104" y="4066655"/>
            <a:ext cx="24179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C:&gt; monitsound.exe n</a:t>
            </a:r>
            <a:endParaRPr/>
          </a:p>
        </p:txBody>
      </p:sp>
      <p:pic>
        <p:nvPicPr>
          <p:cNvPr descr="A graph of a graph&#10;&#10;AI-generated content may be incorrect." id="315" name="Google Shape;31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4642" y="4343991"/>
            <a:ext cx="4231854" cy="25175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showing the temperature of a person&#10;&#10;AI-generated content may be incorrect." id="316" name="Google Shape;31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2040" y="1330092"/>
            <a:ext cx="4083865" cy="2517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"/>
          <p:cNvSpPr/>
          <p:nvPr/>
        </p:nvSpPr>
        <p:spPr>
          <a:xfrm>
            <a:off x="257359" y="98049"/>
            <a:ext cx="84249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Interação Android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1052736"/>
            <a:ext cx="2456232" cy="5019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0216" y="1079701"/>
            <a:ext cx="2432451" cy="5019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6096" y="1052735"/>
            <a:ext cx="2296487" cy="5019567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3"/>
          <p:cNvSpPr txBox="1"/>
          <p:nvPr/>
        </p:nvSpPr>
        <p:spPr>
          <a:xfrm>
            <a:off x="3032325" y="6298286"/>
            <a:ext cx="20882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 não reais, apenas para mostrar layout de gráfico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"/>
          <p:cNvSpPr/>
          <p:nvPr/>
        </p:nvSpPr>
        <p:spPr>
          <a:xfrm>
            <a:off x="257359" y="98049"/>
            <a:ext cx="84249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Interação Android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052736"/>
            <a:ext cx="2498392" cy="49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7864" y="1052736"/>
            <a:ext cx="2376264" cy="486337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4"/>
          <p:cNvSpPr txBox="1"/>
          <p:nvPr/>
        </p:nvSpPr>
        <p:spPr>
          <a:xfrm>
            <a:off x="6012160" y="2132856"/>
            <a:ext cx="20882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 não reais, apenas para mostrar layout de gráfico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2015-12-03T14:21:13Z</dcterms:created>
  <dc:creator>Pedro Nogueira Ramos</dc:creator>
</cp:coreProperties>
</file>